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부서 공통 문제 해결 제안서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9D3E3"/>
                </a:solidFill>
                <a:latin typeface="맑은 고딕"/>
              </a:rPr>
              <a:t>여러 부서 보고서에서 찾은 공통 문제와 해결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D3E3"/>
                </a:solidFill>
                <a:latin typeface="맑은 고딕"/>
              </a:rPr>
              <a:t>작성일 2026-09-30
분석 대상: 구매팀, 생산관리팀, 영업팀, 총무팀, 품질팀 (5개 부서 보고서)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7BD"/>
                </a:solidFill>
                <a:latin typeface="맑은 고딕"/>
              </a:rPr>
              <a:t>AI가 보고서 원문만 바탕으로 작성한 초안입니다. 검토 후 사용하세요.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현재 상황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6949440" cy="4480560"/>
          </a:xfrm>
          <a:prstGeom prst="roundRect">
            <a:avLst>
              <a:gd name="adj" fmla="val 122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02536"/>
            <a:ext cx="109728" cy="1097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6035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22B38"/>
                </a:solidFill>
                <a:latin typeface="맑은 고딕"/>
              </a:rPr>
              <a:t>프레스기 2호기 반입이 9/30 → 10/8로 연기됐고, 반입 협업 항목 기준 구매·생산관리·총무 3개 팀(영업 납기 안내 항목 포함 시 4개 팀)이 관련돼 있습니다.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355848"/>
            <a:ext cx="109728" cy="1097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73552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22B38"/>
                </a:solidFill>
                <a:latin typeface="맑은 고딕"/>
              </a:rPr>
              <a:t>B라인 불량률 초과로 가나모터스向 1,200개 출하가 10/2 → 10/6으로 늦어질 가능성이 있으며, 품질·생산관리·영업 3개 팀이 얽혀 있습니다.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434840"/>
            <a:ext cx="109728" cy="1097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52544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22B38"/>
                </a:solidFill>
                <a:latin typeface="맑은 고딕"/>
              </a:rPr>
              <a:t>환율에 따른 원자재 단가 상승은 구매·영업 보고서에 함께 나오지만, 두 팀 모두 협업 항목에는 적지 않았습니다.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5513831"/>
            <a:ext cx="109728" cy="109728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431536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22B38"/>
                </a:solidFill>
                <a:latin typeface="맑은 고딕"/>
              </a:rPr>
              <a:t>공통점은 팀 간 일정·정보 공유가 아직 확정되지 않았다는 것입니다. 담당자·예산은 원문에 없어 확인이 필요합니다.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600200"/>
            <a:ext cx="37792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B7585"/>
                </a:solidFill>
                <a:latin typeface="맑은 고딕"/>
              </a:rPr>
              <a:t>분석 대상 보고서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057400"/>
            <a:ext cx="3779215" cy="530352"/>
          </a:xfrm>
          <a:prstGeom prst="roundRect">
            <a:avLst>
              <a:gd name="adj" fmla="val 1034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2057400"/>
            <a:ext cx="341345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주간보고_구매팀.txt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697480"/>
            <a:ext cx="3779215" cy="530352"/>
          </a:xfrm>
          <a:prstGeom prst="roundRect">
            <a:avLst>
              <a:gd name="adj" fmla="val 1034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2697480"/>
            <a:ext cx="341345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주간보고_생산관리팀.txt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3337560"/>
            <a:ext cx="3779215" cy="530352"/>
          </a:xfrm>
          <a:prstGeom prst="roundRect">
            <a:avLst>
              <a:gd name="adj" fmla="val 1034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9" y="3337560"/>
            <a:ext cx="341345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주간보고_영업팀.txt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977640"/>
            <a:ext cx="3779215" cy="530352"/>
          </a:xfrm>
          <a:prstGeom prst="roundRect">
            <a:avLst>
              <a:gd name="adj" fmla="val 1034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9" y="3977640"/>
            <a:ext cx="341345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주간보고_총무팀.txt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617720"/>
            <a:ext cx="3779215" cy="530352"/>
          </a:xfrm>
          <a:prstGeom prst="roundRect">
            <a:avLst>
              <a:gd name="adj" fmla="val 10344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4617720"/>
            <a:ext cx="341345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주간보고_품질팀.txt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확인된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프레스기 2호기 반입 연기와 생산계획·납기 안내 영향 (계속 1/2)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구매팀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9616" y="2103120"/>
            <a:ext cx="1188719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2103120"/>
            <a:ext cx="11887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생산관리팀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98064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영업팀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총무팀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78608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주간보고_구매팀.txt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852928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제조사 생산 지연으로 반입 일정 9/30 → 10/8로 연기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12998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522726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주간보고_생산관리팀.txt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797046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구매팀 발주 지연으로 당초 9/30 → 10/8로 연기, 생산계획 차질 우려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확인된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프레스기 2호기 반입 연기와 생산계획·납기 안내 영향 (계속 2/2)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구매팀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9616" y="2103120"/>
            <a:ext cx="1188719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2103120"/>
            <a:ext cx="11887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생산관리팀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98064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영업팀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총무팀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78608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주간보고_생산관리팀.txt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852928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B라인 생산량 42,000개 (계획 45,000개 대비 93% 달성)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12998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522726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주간보고_영업팀.txt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797046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10월 생산계획 변경 사항을 영업팀 납기 안내에 반영 필요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57116"/>
            <a:ext cx="11094415" cy="1165860"/>
          </a:xfrm>
          <a:prstGeom prst="roundRect">
            <a:avLst>
              <a:gd name="adj" fmla="val 4705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357116"/>
            <a:ext cx="10545775" cy="1165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확인 필요: 지연 원인이 구매팀은 '제조사 생산 지연', 생산관리팀은 '구매팀 발주 지연'으로 서로 다르게 적혀 있음. 생산관리팀은 '차질 우려' 수준이며 확정된 차질은 아님. 10월 1주차 생산계획 46,000개 상향 조정과 반입 지연의 관계, 93% 달성률과 반입 지연·계획 변경 간 인과관계는 원문에 없어 확인 필요. 변경된 10월 생산계획 확정 여부도 확인 필요.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확인된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반입 당일(10/8) 동선·안전점검·가동 중단·검수 기준 협의 미확정 (계속 1/2)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구매팀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9616" y="2103120"/>
            <a:ext cx="1188719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2103120"/>
            <a:ext cx="11887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생산관리팀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98064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총무팀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품질팀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78608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주간보고_구매팀.txt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852928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반입 동선 및 안전점검 일정 조율 필요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12998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522726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주간보고_생산관리팀.txt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797046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반입 당일 라인 가동 중단 시간 협의 필요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57116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466844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주간보고_총무팀.txt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741164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반입 당일 생산라인 일부 가동 중단 필요, 생산관리팀 협조 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확인된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반입 당일(10/8) 동선·안전점검·가동 중단·검수 기준 협의 미확정 (계속 2/2)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구매팀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9616" y="2103120"/>
            <a:ext cx="1188719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2103120"/>
            <a:ext cx="11887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생산관리팀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98064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총무팀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품질팀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78608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주간보고_품질팀.txt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852928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프레스기 2호기 검수 기준서 확정 및 구매팀 공유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12998"/>
            <a:ext cx="11094415" cy="720090"/>
          </a:xfrm>
          <a:prstGeom prst="roundRect">
            <a:avLst>
              <a:gd name="adj" fmla="val 7619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412998"/>
            <a:ext cx="10545775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확인 필요: 가동 중단 시간, 안전점검 일정, 검수 기준서 확정일은 원문에 없음. 협업 항목 기준으로 반입 협의는 구매·생산관리·총무, 설비 사양 상호 확인은 구매·품질임.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확인된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가나모터스向 B라인 출하 지연 (불량률 초과, 재작업·재검사) (계속 1/2)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품질팀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9616" y="2103120"/>
            <a:ext cx="1188719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2103120"/>
            <a:ext cx="11887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생산관리팀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98064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영업팀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578608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주간보고_품질팀.txt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852928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가나모터스向 출하 일정 지연 불가피 (10/2 → 10/6 예상)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12998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522726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주간보고_영업팀.txt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797046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출하가 10/2 → 10/6로 지연 가능성 있음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확인된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가나모터스向 B라인 출하 지연 (불량률 초과, 재작업·재검사) (계속 2/2)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품질팀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9616" y="2103120"/>
            <a:ext cx="1188719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2103120"/>
            <a:ext cx="118871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생산관리팀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98064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영업팀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578608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주간보고_생산관리팀.txt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852928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재검사(10/5~10/6) 일정 공유, 출하 목표일 10/6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12998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522726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주간보고_생산관리팀.txt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797046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B라인 생산량 42,000개 (계획 45,000개 대비 93% 달성)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57116"/>
            <a:ext cx="11094415" cy="1165860"/>
          </a:xfrm>
          <a:prstGeom prst="roundRect">
            <a:avLst>
              <a:gd name="adj" fmla="val 4705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357116"/>
            <a:ext cx="10545775" cy="11658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확인 필요: 표현 차이: 영업팀은 '가능성 있음', 품질팀은 '불가피/예상', 생산관리팀은 '출하 목표일 10/6'. 영업·품질팀은 10/6 '확정 필요'로 적음. 품질팀 보고서에 불량률 2.8%(관리 기준 1.5% 초과)가 있으나 불량 원인은 원문에 없어 확인 필요. 93% 달성률과 불량 간 인과관계도 확인 필요. 재작업 인력 3명 추가와 외부 검사 인력 1명 지원은 승인 여부 확인 필요.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확인된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원자재 단가 상승분의 납품단가 반영 협의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구매팀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99616" y="2103120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9616" y="2103120"/>
            <a:ext cx="84124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영업팀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578608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주간보고_구매팀.txt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852928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환율 상승분을 반영한 원자재 단가 재산정 (전월 대비 +4%)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12998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522726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주간보고_구매팀.txt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797046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원자재 단가 상승분(+4%)을 영업팀 납품단가 협의에 반영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57116"/>
            <a:ext cx="11094415" cy="806958"/>
          </a:xfrm>
          <a:prstGeom prst="roundRect">
            <a:avLst>
              <a:gd name="adj" fmla="val 6798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466844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A8C"/>
                </a:solidFill>
                <a:latin typeface="맑은 고딕"/>
              </a:rPr>
              <a:t>근거: 주간보고_영업팀.txt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741164"/>
            <a:ext cx="10545775" cy="3497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환율 변동으로 원자재 수입 단가 상승, 납품단가 재협의 필요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01233"/>
            <a:ext cx="11094415" cy="720090"/>
          </a:xfrm>
          <a:prstGeom prst="roundRect">
            <a:avLst>
              <a:gd name="adj" fmla="val 7619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301233"/>
            <a:ext cx="10545775" cy="72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B38"/>
                </a:solidFill>
                <a:latin typeface="맑은 고딕"/>
              </a:rPr>
              <a:t>확인 필요: 두 팀 모두 '여러 팀 협업 필요 사항'에는 이 건을 적지 않음. 납품단가 반영 폭, 협의 대상 거래처, 일정, 담당자는 원문에 없음.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해결 방안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프레스기 2호기 반입 연기와 생산계획·납기 안내 영향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[제안]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58568"/>
            <a:ext cx="995141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구매·생산관리팀이 지연 원인(제조사 vs 발주)을 함께 확인해 한 가지로 정리·공유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07208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944368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16936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반입 일정 10/8로 확정, 반입 계획서 총무팀 전달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28975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주간보고_구매팀.txt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31311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768471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68471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41039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반입 일정(10/8)에 맞춰 라인 재배치 계획 수립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053078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주간보고_생산관리팀.txt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55414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592574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9257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[제안]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565142"/>
            <a:ext cx="995141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변경된 10월 생산계획을 영업팀에 공유해 납기 안내에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[제안] = 원문에 없는 새로운 제안   [원문] = 보고서에 이미 있는 조치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해결 방안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반입 당일(10/8) 동선·안전점검·가동 중단·검수 기준 협의 미확정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58568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하역장 동선 통제 계획 수립 및 안전점검 실시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70607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주간보고_총무팀.txt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2943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110103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10103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82671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품질팀 검수 기준서 반영한 설비 사양 최종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94710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주간보고_구매팀.txt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7046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934206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34206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[제안]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06774"/>
            <a:ext cx="995141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구매·생산관리·총무팀이 동선·점검·가동 중단 시간을 반입 체크리스트 하나로 정리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55414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592574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59257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[제안]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565142"/>
            <a:ext cx="995141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품질팀 기준서 확정 시점과 구매팀 사양 확인 순서를 서로 맞춤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[제안] = 원문에 없는 새로운 제안   [원문] = 보고서에 이미 있는 조치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해결 방안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가나모터스向 B라인 출하 지연 (불량률 초과, 재작업·재검사)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58568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B라인 재작업 물량 1,200개 완료 목표 (10/2까지)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70607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주간보고_생산관리팀.txt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2943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110103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10103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82671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재작업 완료분(1,200개) 재검사 실시 (10/5~10/6)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94710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주간보고_품질팀.txt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7046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934206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34206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06774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가나모터스向 납기 조정안 최종 회신 (10/2까지)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18813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주간보고_영업팀.txt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21149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4758309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58309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[제안]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730877"/>
            <a:ext cx="995141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회신은 재검사 전이므로 '10/6 목표, 재검사 결과 따라 확정'으로 조건부 안내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79517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5416677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416677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389245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재발 방지 대책 수립(9월 5주차부터 1.5% 이하 목표)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701283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주간보고_품질팀.txt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[제안] = 원문에 없는 새로운 제안   [원문] = 보고서에 이미 있는 조치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해결 방안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문제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263B"/>
                </a:solidFill>
                <a:latin typeface="맑은 고딕"/>
              </a:rPr>
              <a:t>원자재 단가 상승분의 납품단가 반영 협의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94415" cy="714375"/>
          </a:xfrm>
          <a:prstGeom prst="roundRect">
            <a:avLst>
              <a:gd name="adj" fmla="val 7679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[원문]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58568"/>
            <a:ext cx="9951415" cy="5314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환율 상승분을 반영한 원자재 단가 재산정 (전월 대비 +4%)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570607"/>
            <a:ext cx="9951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주간보고_구매팀.txt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2943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110103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10103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[제안]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82671"/>
            <a:ext cx="995141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구매팀이 단가 산정 근거를 영업팀에 공유하고 협의 전 반영 범위를 함께 정리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31311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768471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68471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[제안]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41039"/>
            <a:ext cx="9951415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협업 필요 사항에 이 건을 추가하고 담당·일정을 정함(확인 필요)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[제안] = 원문에 없는 새로운 제안   [원문] = 보고서에 이미 있는 조치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기대 효과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10047" cy="1188720"/>
          </a:xfrm>
          <a:prstGeom prst="roundRect">
            <a:avLst>
              <a:gd name="adj" fmla="val 4615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91640"/>
            <a:ext cx="4267047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반입·출하 일정 정보가 팀마다 다르게 전달되는 혼선을 줄일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600200"/>
            <a:ext cx="5410047" cy="1188720"/>
          </a:xfrm>
          <a:prstGeom prst="roundRect">
            <a:avLst>
              <a:gd name="adj" fmla="val 4615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6596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965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7407" y="1691640"/>
            <a:ext cx="4267047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반입 당일 협의 사항을 미리 정리해 라인 가동 중단과 안전점검 준비의 부담을 낮출 수 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5410047" cy="1188720"/>
          </a:xfrm>
          <a:prstGeom prst="roundRect">
            <a:avLst>
              <a:gd name="adj" fmla="val 4615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383279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832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08960"/>
            <a:ext cx="4267047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영업팀이 근거 있는 일정으로 거래처에 안내해 납기 신뢰도를 지키는 데 도움이 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3017520"/>
            <a:ext cx="5410047" cy="1188720"/>
          </a:xfrm>
          <a:prstGeom prst="roundRect">
            <a:avLst>
              <a:gd name="adj" fmla="val 4615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3383279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33832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7407" y="3108960"/>
            <a:ext cx="4267047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222B38"/>
                </a:solidFill>
                <a:latin typeface="맑은 고딕"/>
              </a:rPr>
              <a:t>단가 상승분 협의 준비가 체계화되어 팀 간 재작업이 줄어듭니다.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효과 수치는 보고서 원문에 없어 제시하지 않았습니다. 정성적 기대 효과입니다.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필요한 것과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63B"/>
                </a:solidFill>
                <a:latin typeface="맑은 고딕"/>
              </a:rPr>
              <a:t>원문에 있는 일정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5486400" cy="1177290"/>
          </a:xfrm>
          <a:prstGeom prst="roundRect">
            <a:avLst>
              <a:gd name="adj" fmla="val 466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67128"/>
            <a:ext cx="493776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프레스기 2호기 반입 9/30 → 10/8 연기. '10/8로 확정, 반입 계획서 총무팀 전달'은 다음 주 계획 항목에 적힘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6037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주간보고_구매팀.txt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26130"/>
            <a:ext cx="5486400" cy="937259"/>
          </a:xfrm>
          <a:prstGeom prst="roundRect">
            <a:avLst>
              <a:gd name="adj" fmla="val 5853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435858"/>
            <a:ext cx="4937760" cy="571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반입 10/8 '확정됨'(이슈 항목), 신규 지게차 입고·운행 전 점검 10/7 예정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98907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주간보고_총무팀.txt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54830"/>
            <a:ext cx="5486400" cy="1177290"/>
          </a:xfrm>
          <a:prstGeom prst="roundRect">
            <a:avLst>
              <a:gd name="adj" fmla="val 466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464558"/>
            <a:ext cx="4937760" cy="811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B라인 재작업 1,200개 완료 목표 10/2까지, 재검사 10/5~10/6, 출하 목표일 10/6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25780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주간보고_생산관리팀.txt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242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63B"/>
                </a:solidFill>
                <a:latin typeface="맑은 고딕"/>
              </a:rPr>
              <a:t>확인 필요 사항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57400"/>
            <a:ext cx="5242255" cy="754380"/>
          </a:xfrm>
          <a:prstGeom prst="roundRect">
            <a:avLst>
              <a:gd name="adj" fmla="val 7272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2352294"/>
            <a:ext cx="164592" cy="16459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057400"/>
            <a:ext cx="4419295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담당자: 4개 공통 문제 모두 담당자가 원문에 없음 (확인 필요)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903220"/>
            <a:ext cx="5242255" cy="994410"/>
          </a:xfrm>
          <a:prstGeom prst="roundRect">
            <a:avLst>
              <a:gd name="adj" fmla="val 5517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3318129"/>
            <a:ext cx="164592" cy="16459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2903220"/>
            <a:ext cx="4419295" cy="9944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예산: 재작업 인력 3명 추가, 외부 검사 인력 1명 임시 지원의 비용·승인 여부 (확인 필요)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989070"/>
            <a:ext cx="5242255" cy="994410"/>
          </a:xfrm>
          <a:prstGeom prst="roundRect">
            <a:avLst>
              <a:gd name="adj" fmla="val 5517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29400" y="4403979"/>
            <a:ext cx="164592" cy="16459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3989070"/>
            <a:ext cx="4419295" cy="9944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프레스기 2호기 지연 원인: 제조사 생산 지연인지 구매팀 발주 지연인지 (확인 필요)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074920"/>
            <a:ext cx="5242255" cy="754380"/>
          </a:xfrm>
          <a:prstGeom prst="roundRect">
            <a:avLst>
              <a:gd name="adj" fmla="val 7272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29400" y="5369814"/>
            <a:ext cx="164592" cy="16459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5074920"/>
            <a:ext cx="4419295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반입 당일(10/8) 라인 가동 중단 시간, 안전점검 일정 (일정 확인 필요)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담당자·예산·신규 일정은 원문에 없어 정하지 않았습니다. 위 확인 필요 사항을 먼저 확정해야 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A8C"/>
                </a:solidFill>
                <a:latin typeface="맑은 고딕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7228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63B"/>
                </a:solidFill>
                <a:latin typeface="맑은 고딕"/>
              </a:rPr>
              <a:t>필요한 것과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8686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585"/>
                </a:solidFill>
                <a:latin typeface="맑은 고딕"/>
              </a:rPr>
              <a:t>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63B"/>
                </a:solidFill>
                <a:latin typeface="맑은 고딕"/>
              </a:rPr>
              <a:t>원문에 있는 일정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5486400" cy="937259"/>
          </a:xfrm>
          <a:prstGeom prst="roundRect">
            <a:avLst>
              <a:gd name="adj" fmla="val 5853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67128"/>
            <a:ext cx="4937760" cy="571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재검사 10/5~10/6, 출하 10/2 → 10/6 예상, 출하 가능일 10/6 확정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2034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주간보고_품질팀.txt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86100"/>
            <a:ext cx="5486400" cy="937259"/>
          </a:xfrm>
          <a:prstGeom prst="roundRect">
            <a:avLst>
              <a:gd name="adj" fmla="val 5853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195828"/>
            <a:ext cx="4937760" cy="571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가나모터스向 납기 조정안 최종 회신 10/2까지, 출하 목표일 10/6 확정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74904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주간보고_영업팀.txt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5486400" cy="937259"/>
          </a:xfrm>
          <a:prstGeom prst="roundRect">
            <a:avLst>
              <a:gd name="adj" fmla="val 5853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224528"/>
            <a:ext cx="4937760" cy="571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B라인 불량률 9월 5주차부터 1.5% 이하 목표(재발 방지 대책)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77774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출처: 주간보고_품질팀.txt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242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B263B"/>
                </a:solidFill>
                <a:latin typeface="맑은 고딕"/>
              </a:rPr>
              <a:t>확인 필요 사항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57400"/>
            <a:ext cx="5242255" cy="994410"/>
          </a:xfrm>
          <a:prstGeom prst="roundRect">
            <a:avLst>
              <a:gd name="adj" fmla="val 5517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2472309"/>
            <a:ext cx="164592" cy="16459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057400"/>
            <a:ext cx="4419295" cy="9944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프레스기 2호기 검수 기준서 확정일, 구매·품질 간 사양 확인 일정 (일정 확인 필요)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143250"/>
            <a:ext cx="5242255" cy="994410"/>
          </a:xfrm>
          <a:prstGeom prst="roundRect">
            <a:avLst>
              <a:gd name="adj" fmla="val 5517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3558159"/>
            <a:ext cx="164592" cy="16459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3143250"/>
            <a:ext cx="4419295" cy="9944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변경된 10월 생산계획과 영업 납기 안내 반영 시점, 46,000개 상향 계획과의 관계 (확인 필요)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229100"/>
            <a:ext cx="5242255" cy="754380"/>
          </a:xfrm>
          <a:prstGeom prst="roundRect">
            <a:avLst>
              <a:gd name="adj" fmla="val 7272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29400" y="4523994"/>
            <a:ext cx="164592" cy="16459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4229100"/>
            <a:ext cx="4419295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납품단가 반영 폭, 협의 대상 거래처, 협의 일정 (확인 필요)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074920"/>
            <a:ext cx="5242255" cy="754380"/>
          </a:xfrm>
          <a:prstGeom prst="roundRect">
            <a:avLst>
              <a:gd name="adj" fmla="val 7272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29400" y="5369814"/>
            <a:ext cx="164592" cy="164592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60" y="5074920"/>
            <a:ext cx="4419295" cy="754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222B38"/>
                </a:solidFill>
                <a:latin typeface="맑은 고딕"/>
              </a:rPr>
              <a:t>불량 원인(공차 초과 원인)과 93% 달성률 간 인과관계 (확인 필요)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11094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585"/>
                </a:solidFill>
                <a:latin typeface="맑은 고딕"/>
              </a:rPr>
              <a:t>담당자·예산·신규 일정은 원문에 없어 정하지 않았습니다. 위 확인 필요 사항을 먼저 확정해야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